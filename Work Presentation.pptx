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z1dnHOuSwi7P82B0vgeiMIfNn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8" name="Google Shape;88;p1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3" name="Google Shape;93;p1"/>
          <p:cNvSpPr/>
          <p:nvPr/>
        </p:nvSpPr>
        <p:spPr>
          <a:xfrm flipH="1" rot="10800000">
            <a:off x="13114040" y="0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628125" y="743275"/>
            <a:ext cx="1124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1">
                <a:solidFill>
                  <a:srgbClr val="004AAD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WDI - EKC Sustainability Assessment Framework</a:t>
            </a:r>
            <a:endParaRPr b="1">
              <a:highlight>
                <a:schemeClr val="lt1"/>
              </a:highlight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3700" y="2178200"/>
            <a:ext cx="7296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 RESEARCH AIMS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Goal: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verify the true shape of the Environmental Kuznets Curve (EKC) by controlling for country-specific biases using robust Panel Fixed Effects (FE) models.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Focus: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study identifies leaders in "Absolute Decoupling" (Green Growth) to provide empirical models for effective sustainability policies.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580600" y="2413050"/>
            <a:ext cx="7296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METHODOLOGY AND DATA STRUCTURE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Model: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used WDI Panel Data (2000–2020) to regress CO2 on log(GDP) and its square.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Hausman Test confirmed the Fixed Effects (FE) model was the statistically consistent and superior estimator for this analysis.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923700" y="5096300"/>
            <a:ext cx="7296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III. FINDINGS AND CONCLUSIONS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EKC Confirmation: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 analysis confirmed the Inverted U-Shape (EKC), but the low explanatory power (R² ≈ 4.4%) shows that mere GDP growth is an insufficient driver.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While the EKC exists, CO2 reduction is primarily driven by policy and technological intervention, as proven by Green Growth Candidates like Denmark and Ireland.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580602" y="4918097"/>
            <a:ext cx="7296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IV. DISCUSSION AND SECTORAL RECOMMENDATIONS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Implication: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Policymakers should not wait for wealth accumulation, but must actively adopt measures like Carbon Pricing to accelerate the decline phase.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Developing nations must utilize Renewables to "leapfrog" the costly climb, while developed nations must invest in Carbon Capture to target net-negative emissions.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 flipH="1">
            <a:off x="0" y="8585026"/>
            <a:ext cx="5199830" cy="1701974"/>
          </a:xfrm>
          <a:custGeom>
            <a:rect b="b" l="l" r="r" t="t"/>
            <a:pathLst>
              <a:path extrusionOk="0" h="1668602" w="517396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9625700" y="9266663"/>
            <a:ext cx="825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Leader: Meriç Özcan; Team Members: Ali Kınış and Ahmet Aslan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p2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0" name="Google Shape;110;p2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1" name="Google Shape;111;p2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2" name="Google Shape;112;p2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2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4" name="Google Shape;114;p2"/>
          <p:cNvSpPr txBox="1"/>
          <p:nvPr/>
        </p:nvSpPr>
        <p:spPr>
          <a:xfrm>
            <a:off x="2039508" y="4221163"/>
            <a:ext cx="56139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GENEL BAKIŞ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-7363268" y="3844916"/>
            <a:ext cx="576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" title="ekc_scatter_fitt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200" y="230700"/>
            <a:ext cx="14738399" cy="98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3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4" name="Google Shape;124;p3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5" name="Google Shape;125;p3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6" name="Google Shape;126;p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7" name="Google Shape;127;p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8" name="Google Shape;128;p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9" name="Google Shape;129;p3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0" name="Google Shape;130;p3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pic>
        <p:nvPicPr>
          <p:cNvPr id="131" name="Google Shape;131;p3" title="ts_Luxembour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550" y="739275"/>
            <a:ext cx="17616901" cy="88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4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9" name="Google Shape;139;p4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0" name="Google Shape;140;p4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1" name="Google Shape;141;p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2" name="Google Shape;142;p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3" name="Google Shape;143;p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4" name="Google Shape;144;p4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5" name="Google Shape;145;p4"/>
          <p:cNvSpPr txBox="1"/>
          <p:nvPr/>
        </p:nvSpPr>
        <p:spPr>
          <a:xfrm>
            <a:off x="7687858" y="4619133"/>
            <a:ext cx="11556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9500638" y="6955906"/>
            <a:ext cx="11556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pic>
        <p:nvPicPr>
          <p:cNvPr id="147" name="Google Shape;147;p4" title="regional_co2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2575"/>
            <a:ext cx="18288001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